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guide strategic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0246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428899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46447" y="20738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46053" y="1428899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3196456" y="20738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21048" y="2649662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1971452" y="32946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21048" y="3601120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398740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 span demographics, purchase details, and shopping behavior — including subscription status, discounts, and review ratings.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5667"/>
            <a:ext cx="51471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471" y="1395115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85037" y="1390724"/>
            <a:ext cx="18593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485037" y="1753939"/>
            <a:ext cx="2167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Snake_case columns; median imputation for Review Rating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7471" y="2495476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85037" y="2491085"/>
            <a:ext cx="18465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485037" y="2854300"/>
            <a:ext cx="2167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purchase_frequency_days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7471" y="359583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85037" y="3591446"/>
            <a:ext cx="1883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485037" y="3954661"/>
            <a:ext cx="2167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 into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PostgreSQL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46497"/>
            <a:ext cx="40397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272927"/>
            <a:ext cx="4722763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$157K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400452" y="19178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Male Revenue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25119" y="2224385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~68% of total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25119" y="2805559"/>
            <a:ext cx="4722763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$75K</a:t>
            </a:r>
            <a:endParaRPr lang="en-US" sz="3650" dirty="0"/>
          </a:p>
        </p:txBody>
      </p:sp>
      <p:sp>
        <p:nvSpPr>
          <p:cNvPr id="8" name="Text 5"/>
          <p:cNvSpPr/>
          <p:nvPr/>
        </p:nvSpPr>
        <p:spPr>
          <a:xfrm>
            <a:off x="5400452" y="34505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Female Revenue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925119" y="3757017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~32% of total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25119" y="414330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more than double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revenue of female customers across 3,900 transactions.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6824"/>
            <a:ext cx="65504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417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by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14" y="1939677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78721" y="1939677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714" y="2350889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8721" y="2350889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714" y="2762101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8721" y="2762101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14" y="3173313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8721" y="3173313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3584525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8721" y="3584525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3995738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8721" y="3995738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9701" y="1464171"/>
            <a:ext cx="28476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Discounted Products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49701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6296" y="1939677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Product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32303" y="1939677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Discount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6296" y="2350889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32303" y="2350889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6296" y="2762101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32303" y="2762101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6296" y="3173313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32303" y="3173313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6296" y="3584525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32303" y="3584525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48.17%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6296" y="3995738"/>
            <a:ext cx="25096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32303" y="3995738"/>
            <a:ext cx="17310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8047"/>
            <a:ext cx="628739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&amp; Subscription Behavior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03672"/>
            <a:ext cx="5185172" cy="293823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0201" y="1190327"/>
            <a:ext cx="2642369" cy="10385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4542" y="1337518"/>
            <a:ext cx="173667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vs. Standard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214542" y="1669777"/>
            <a:ext cx="229083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avg: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$60.48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Standard avg: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$58.46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0201" y="2353494"/>
            <a:ext cx="2642369" cy="103859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14542" y="250068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(27%)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214542" y="2832943"/>
            <a:ext cx="229083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customers · Avg spend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$59.49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Revenue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$62.6K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0201" y="3516660"/>
            <a:ext cx="2642369" cy="103859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14542" y="3663851"/>
            <a:ext cx="188550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Non-Subscribers (73%)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214542" y="3996110"/>
            <a:ext cx="229083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 customers · Avg spend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$59.87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Revenue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$170.4K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40160"/>
            <a:ext cx="48824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95748"/>
            <a:ext cx="2290465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8422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148780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95748"/>
            <a:ext cx="2290539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8422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148780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663875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28103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11690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36497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customers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5+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958 are subscribers vs. 2,518 non-subscribers.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6308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lead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though all four age groups contribute fairly evenly — suggesting broad market appeal across demographics.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2667"/>
            <a:ext cx="41698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339" y="1317724"/>
            <a:ext cx="283518" cy="2835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85037" y="13663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485037" y="1729606"/>
            <a:ext cx="2167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Subscription, Gender, Category, Shipping Type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4339" y="2466752"/>
            <a:ext cx="283518" cy="283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85037" y="251541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 Charts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485037" y="2878634"/>
            <a:ext cx="2167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&amp; Sales by Category and Age Group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4339" y="3615779"/>
            <a:ext cx="283518" cy="2835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85037" y="36644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485037" y="4027661"/>
            <a:ext cx="21675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3.9K customers · $59.76 avg purchase · 3.75 avg rating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5694"/>
            <a:ext cx="4040088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3925119" y="852264"/>
            <a:ext cx="4722763" cy="911349"/>
          </a:xfrm>
          <a:prstGeom prst="roundRect">
            <a:avLst>
              <a:gd name="adj" fmla="val 459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29521" y="956667"/>
            <a:ext cx="298996" cy="29899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1749" y="1038895"/>
            <a:ext cx="134541" cy="1345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9521" y="1325687"/>
            <a:ext cx="126637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029521" y="1523405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925119" y="1833637"/>
            <a:ext cx="4722763" cy="911349"/>
          </a:xfrm>
          <a:prstGeom prst="roundRect">
            <a:avLst>
              <a:gd name="adj" fmla="val 459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29521" y="1938040"/>
            <a:ext cx="298996" cy="29899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1749" y="2020267"/>
            <a:ext cx="134541" cy="1345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29521" y="2307059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029521" y="2504777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toward "Loyal" segment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3925119" y="2815010"/>
            <a:ext cx="4722763" cy="911349"/>
          </a:xfrm>
          <a:prstGeom prst="roundRect">
            <a:avLst>
              <a:gd name="adj" fmla="val 459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29521" y="2919413"/>
            <a:ext cx="298996" cy="29899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1749" y="3001640"/>
            <a:ext cx="134541" cy="13454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29521" y="32884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029521" y="3486150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3925119" y="3796382"/>
            <a:ext cx="4722763" cy="911349"/>
          </a:xfrm>
          <a:prstGeom prst="roundRect">
            <a:avLst>
              <a:gd name="adj" fmla="val 459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029521" y="3900785"/>
            <a:ext cx="298996" cy="29899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1749" y="3983013"/>
            <a:ext cx="134541" cy="13454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29521" y="4269804"/>
            <a:ext cx="125692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029521" y="4467523"/>
            <a:ext cx="451395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 shippers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2026-07-05T18:21:39Z</dcterms:created>
  <dcterms:modified xsi:type="dcterms:W3CDTF">2026-07-05T18:21:39Z</dcterms:modified>
</cp:coreProperties>
</file>